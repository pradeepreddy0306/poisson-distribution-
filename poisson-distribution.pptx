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5854700" cy="3295650"/>
  <p:notesSz cx="5854700" cy="32956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8" d="100"/>
          <a:sy n="158" d="100"/>
        </p:scale>
        <p:origin x="922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9102" y="1021651"/>
            <a:ext cx="4976495" cy="6920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78205" y="1845564"/>
            <a:ext cx="4098290" cy="823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92735" y="757999"/>
            <a:ext cx="2546794" cy="2175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015170" y="757999"/>
            <a:ext cx="2546794" cy="2175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494751" y="8"/>
            <a:ext cx="3352165" cy="3288029"/>
          </a:xfrm>
          <a:custGeom>
            <a:avLst/>
            <a:gdLst/>
            <a:ahLst/>
            <a:cxnLst/>
            <a:rect l="l" t="t" r="r" b="b"/>
            <a:pathLst>
              <a:path w="3352165" h="3288029">
                <a:moveTo>
                  <a:pt x="3352159" y="0"/>
                </a:moveTo>
                <a:lnTo>
                  <a:pt x="0" y="0"/>
                </a:lnTo>
                <a:lnTo>
                  <a:pt x="0" y="3287938"/>
                </a:lnTo>
                <a:lnTo>
                  <a:pt x="3352159" y="3287938"/>
                </a:lnTo>
                <a:lnTo>
                  <a:pt x="33521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8329" y="448216"/>
            <a:ext cx="1866264" cy="4044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3556" y="1049023"/>
            <a:ext cx="2483485" cy="725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6358" y="397963"/>
            <a:ext cx="2727960" cy="2646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635" algn="ctr">
              <a:lnSpc>
                <a:spcPct val="100499"/>
              </a:lnSpc>
              <a:spcBef>
                <a:spcPts val="105"/>
              </a:spcBef>
            </a:pPr>
            <a:r>
              <a:rPr sz="2850" b="1" dirty="0">
                <a:solidFill>
                  <a:srgbClr val="FFFFFF"/>
                </a:solidFill>
                <a:latin typeface="Cambria"/>
                <a:cs typeface="Cambria"/>
              </a:rPr>
              <a:t>Exploring</a:t>
            </a:r>
            <a:r>
              <a:rPr sz="2850" b="1" spc="2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50" b="1" spc="-25" dirty="0">
                <a:solidFill>
                  <a:srgbClr val="FFFFFF"/>
                </a:solidFill>
                <a:latin typeface="Cambria"/>
                <a:cs typeface="Cambria"/>
              </a:rPr>
              <a:t>the </a:t>
            </a:r>
            <a:r>
              <a:rPr sz="2850" b="1" spc="-10" dirty="0">
                <a:solidFill>
                  <a:srgbClr val="FFFFFF"/>
                </a:solidFill>
                <a:latin typeface="Cambria"/>
                <a:cs typeface="Cambria"/>
              </a:rPr>
              <a:t>Poisson </a:t>
            </a:r>
            <a:r>
              <a:rPr sz="2850" b="1" dirty="0">
                <a:solidFill>
                  <a:srgbClr val="FFFFFF"/>
                </a:solidFill>
                <a:latin typeface="Cambria"/>
                <a:cs typeface="Cambria"/>
              </a:rPr>
              <a:t>Distribution:</a:t>
            </a:r>
            <a:r>
              <a:rPr sz="2850" b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50" b="1" spc="-50" dirty="0">
                <a:solidFill>
                  <a:srgbClr val="FFFFFF"/>
                </a:solidFill>
                <a:latin typeface="Cambria"/>
                <a:cs typeface="Cambria"/>
              </a:rPr>
              <a:t>A </a:t>
            </a:r>
            <a:r>
              <a:rPr sz="2850" b="1" spc="-10" dirty="0">
                <a:solidFill>
                  <a:srgbClr val="FFFFFF"/>
                </a:solidFill>
                <a:latin typeface="Cambria"/>
                <a:cs typeface="Cambria"/>
              </a:rPr>
              <a:t>Statistical </a:t>
            </a:r>
            <a:r>
              <a:rPr sz="2850" b="1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2850" b="1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50" b="1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2850" b="1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50" b="1" spc="-20" dirty="0">
                <a:solidFill>
                  <a:srgbClr val="FFFFFF"/>
                </a:solidFill>
                <a:latin typeface="Cambria"/>
                <a:cs typeface="Cambria"/>
              </a:rPr>
              <a:t>Rare </a:t>
            </a:r>
            <a:r>
              <a:rPr sz="2850" b="1" spc="-10" dirty="0">
                <a:solidFill>
                  <a:srgbClr val="FFFFFF"/>
                </a:solidFill>
                <a:latin typeface="Cambria"/>
                <a:cs typeface="Cambria"/>
              </a:rPr>
              <a:t>Events</a:t>
            </a:r>
            <a:endParaRPr sz="285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207" y="365330"/>
            <a:ext cx="1637120" cy="25572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5" y="8"/>
            <a:ext cx="2596865" cy="328793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39117" y="359926"/>
            <a:ext cx="2764790" cy="56070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79375" rIns="0" bIns="0" rtlCol="0">
            <a:spAutoFit/>
          </a:bodyPr>
          <a:lstStyle/>
          <a:p>
            <a:pPr marL="675005">
              <a:lnSpc>
                <a:spcPct val="100000"/>
              </a:lnSpc>
              <a:spcBef>
                <a:spcPts val="625"/>
              </a:spcBef>
            </a:pPr>
            <a:r>
              <a:rPr sz="1850" spc="-10" dirty="0">
                <a:solidFill>
                  <a:srgbClr val="FFFFFF"/>
                </a:solidFill>
              </a:rPr>
              <a:t>Introduction</a:t>
            </a:r>
            <a:endParaRPr sz="18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4085" y="1099374"/>
            <a:ext cx="985814" cy="7920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03551" y="1038225"/>
            <a:ext cx="2435574" cy="84766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  <a:tabLst>
                <a:tab pos="1241425" algn="l"/>
              </a:tabLst>
            </a:pPr>
            <a:r>
              <a:rPr sz="800" spc="-25" dirty="0">
                <a:latin typeface="Verdana"/>
                <a:cs typeface="Verdana"/>
              </a:rPr>
              <a:t>The</a:t>
            </a:r>
            <a:r>
              <a:rPr sz="800" dirty="0">
                <a:latin typeface="Verdana"/>
                <a:cs typeface="Verdana"/>
              </a:rPr>
              <a:t>	</a:t>
            </a:r>
            <a:r>
              <a:rPr sz="800" spc="-30" dirty="0">
                <a:latin typeface="Verdana"/>
                <a:cs typeface="Verdana"/>
              </a:rPr>
              <a:t>is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a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i="1" spc="-10" dirty="0">
                <a:latin typeface="Verdana"/>
                <a:cs typeface="Verdana"/>
              </a:rPr>
              <a:t>probability</a:t>
            </a:r>
            <a:endParaRPr sz="800" dirty="0">
              <a:latin typeface="Verdana"/>
              <a:cs typeface="Verdana"/>
            </a:endParaRPr>
          </a:p>
          <a:p>
            <a:pPr marL="12700" marR="5080" algn="ctr">
              <a:lnSpc>
                <a:spcPct val="114900"/>
              </a:lnSpc>
            </a:pPr>
            <a:r>
              <a:rPr sz="800" i="1" dirty="0">
                <a:latin typeface="Verdana"/>
                <a:cs typeface="Verdana"/>
              </a:rPr>
              <a:t>distribution</a:t>
            </a:r>
            <a:r>
              <a:rPr sz="800" i="1" spc="-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that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expresses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the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likelihood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of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 </a:t>
            </a:r>
            <a:r>
              <a:rPr sz="800" spc="-10" dirty="0">
                <a:latin typeface="Verdana"/>
                <a:cs typeface="Verdana"/>
              </a:rPr>
              <a:t>given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number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of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events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occurring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in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a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fixed</a:t>
            </a:r>
            <a:endParaRPr sz="800" dirty="0">
              <a:latin typeface="Verdana"/>
              <a:cs typeface="Verdana"/>
            </a:endParaRPr>
          </a:p>
          <a:p>
            <a:pPr marL="53340" marR="45720" algn="ctr">
              <a:lnSpc>
                <a:spcPct val="114900"/>
              </a:lnSpc>
              <a:spcBef>
                <a:spcPts val="20"/>
              </a:spcBef>
            </a:pPr>
            <a:r>
              <a:rPr sz="800" spc="-20" dirty="0">
                <a:latin typeface="Verdana"/>
                <a:cs typeface="Verdana"/>
              </a:rPr>
              <a:t>interval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of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time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or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space.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It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is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widely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used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in various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fields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such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as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i="1" spc="-10" dirty="0">
                <a:latin typeface="Verdana"/>
                <a:cs typeface="Verdana"/>
              </a:rPr>
              <a:t>insurance</a:t>
            </a:r>
            <a:r>
              <a:rPr sz="800" spc="-10" dirty="0">
                <a:latin typeface="Verdana"/>
                <a:cs typeface="Verdana"/>
              </a:rPr>
              <a:t>, </a:t>
            </a:r>
            <a:r>
              <a:rPr sz="800" i="1" dirty="0">
                <a:latin typeface="Verdana"/>
                <a:cs typeface="Verdana"/>
              </a:rPr>
              <a:t>telecommunications</a:t>
            </a:r>
            <a:r>
              <a:rPr sz="800" dirty="0">
                <a:latin typeface="Verdana"/>
                <a:cs typeface="Verdana"/>
              </a:rPr>
              <a:t>,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and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i="1" spc="-10" dirty="0">
                <a:latin typeface="Verdana"/>
                <a:cs typeface="Verdana"/>
              </a:rPr>
              <a:t>biology</a:t>
            </a:r>
            <a:r>
              <a:rPr sz="800" spc="-10" dirty="0">
                <a:latin typeface="Verdana"/>
                <a:cs typeface="Verdana"/>
              </a:rPr>
              <a:t>.</a:t>
            </a:r>
            <a:endParaRPr sz="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24126" y="8"/>
            <a:ext cx="2922905" cy="3288029"/>
            <a:chOff x="2924126" y="8"/>
            <a:chExt cx="2922905" cy="3288029"/>
          </a:xfrm>
        </p:grpSpPr>
        <p:sp>
          <p:nvSpPr>
            <p:cNvPr id="3" name="object 3"/>
            <p:cNvSpPr/>
            <p:nvPr/>
          </p:nvSpPr>
          <p:spPr>
            <a:xfrm>
              <a:off x="2924126" y="8"/>
              <a:ext cx="2922905" cy="3288029"/>
            </a:xfrm>
            <a:custGeom>
              <a:avLst/>
              <a:gdLst/>
              <a:ahLst/>
              <a:cxnLst/>
              <a:rect l="l" t="t" r="r" b="b"/>
              <a:pathLst>
                <a:path w="2922904" h="3288029">
                  <a:moveTo>
                    <a:pt x="2922614" y="0"/>
                  </a:moveTo>
                  <a:lnTo>
                    <a:pt x="0" y="0"/>
                  </a:lnTo>
                  <a:lnTo>
                    <a:pt x="0" y="3287938"/>
                  </a:lnTo>
                  <a:lnTo>
                    <a:pt x="2922614" y="3287938"/>
                  </a:lnTo>
                  <a:lnTo>
                    <a:pt x="29226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2589" y="365330"/>
              <a:ext cx="2076270" cy="25451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2525" y="610989"/>
            <a:ext cx="1627505" cy="427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95"/>
              </a:spcBef>
            </a:pPr>
            <a:r>
              <a:rPr sz="1300" dirty="0"/>
              <a:t>Understanding</a:t>
            </a:r>
            <a:r>
              <a:rPr sz="1300" spc="70" dirty="0"/>
              <a:t> </a:t>
            </a:r>
            <a:r>
              <a:rPr sz="1300" spc="-25" dirty="0"/>
              <a:t>the </a:t>
            </a:r>
            <a:r>
              <a:rPr sz="1300" dirty="0"/>
              <a:t>Poisson</a:t>
            </a:r>
            <a:r>
              <a:rPr sz="1300" spc="75" dirty="0"/>
              <a:t> </a:t>
            </a:r>
            <a:r>
              <a:rPr sz="1300" spc="-10" dirty="0"/>
              <a:t>Distribution</a:t>
            </a:r>
            <a:endParaRPr sz="1300"/>
          </a:p>
        </p:txBody>
      </p:sp>
      <p:sp>
        <p:nvSpPr>
          <p:cNvPr id="6" name="object 6"/>
          <p:cNvSpPr txBox="1"/>
          <p:nvPr/>
        </p:nvSpPr>
        <p:spPr>
          <a:xfrm>
            <a:off x="450988" y="1000171"/>
            <a:ext cx="2054225" cy="21146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5"/>
              </a:spcBef>
            </a:pPr>
            <a:r>
              <a:rPr sz="1200" spc="-10" dirty="0">
                <a:latin typeface="Verdana"/>
                <a:cs typeface="Verdana"/>
              </a:rPr>
              <a:t>The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Poisson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distribution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spc="-30" dirty="0">
                <a:latin typeface="Verdana"/>
                <a:cs typeface="Verdana"/>
              </a:rPr>
              <a:t>is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characterized </a:t>
            </a:r>
            <a:r>
              <a:rPr sz="1200" spc="-20" dirty="0">
                <a:latin typeface="Verdana"/>
                <a:cs typeface="Verdana"/>
              </a:rPr>
              <a:t>by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its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parameter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spc="-100" dirty="0">
                <a:latin typeface="Lucida Sans Unicode"/>
                <a:cs typeface="Lucida Sans Unicode"/>
              </a:rPr>
              <a:t>λ</a:t>
            </a:r>
            <a:r>
              <a:rPr sz="1200" spc="-100" dirty="0">
                <a:latin typeface="Verdana"/>
                <a:cs typeface="Verdana"/>
              </a:rPr>
              <a:t>,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which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represents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the </a:t>
            </a:r>
            <a:r>
              <a:rPr sz="1200" i="1" spc="-20" dirty="0">
                <a:latin typeface="Verdana"/>
                <a:cs typeface="Verdana"/>
              </a:rPr>
              <a:t>average</a:t>
            </a:r>
            <a:r>
              <a:rPr sz="1200" i="1" spc="-55" dirty="0">
                <a:latin typeface="Verdana"/>
                <a:cs typeface="Verdana"/>
              </a:rPr>
              <a:t> </a:t>
            </a:r>
            <a:r>
              <a:rPr sz="1200" i="1" spc="-20" dirty="0">
                <a:latin typeface="Verdana"/>
                <a:cs typeface="Verdana"/>
              </a:rPr>
              <a:t>rate</a:t>
            </a:r>
            <a:r>
              <a:rPr sz="1200" i="1" spc="-5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of</a:t>
            </a:r>
            <a:r>
              <a:rPr sz="1200" spc="-5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occurrence</a:t>
            </a:r>
            <a:r>
              <a:rPr sz="1200" spc="-5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of</a:t>
            </a:r>
            <a:r>
              <a:rPr sz="1200" spc="-5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the</a:t>
            </a:r>
            <a:r>
              <a:rPr sz="1200" spc="-5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event. </a:t>
            </a:r>
            <a:r>
              <a:rPr sz="1200" spc="-55" dirty="0">
                <a:latin typeface="Verdana"/>
                <a:cs typeface="Verdana"/>
              </a:rPr>
              <a:t>It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is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applicable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when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the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events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are </a:t>
            </a:r>
            <a:r>
              <a:rPr sz="1200" i="1" dirty="0">
                <a:latin typeface="Verdana"/>
                <a:cs typeface="Verdana"/>
              </a:rPr>
              <a:t>independent</a:t>
            </a:r>
            <a:r>
              <a:rPr sz="1200" i="1" spc="-3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of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each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other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and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occur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at 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50" dirty="0">
                <a:latin typeface="Verdana"/>
                <a:cs typeface="Verdana"/>
              </a:rPr>
              <a:t> </a:t>
            </a:r>
            <a:r>
              <a:rPr sz="1200" i="1" dirty="0">
                <a:latin typeface="Verdana"/>
                <a:cs typeface="Verdana"/>
              </a:rPr>
              <a:t>constant</a:t>
            </a:r>
            <a:r>
              <a:rPr sz="1200" i="1" spc="-45" dirty="0">
                <a:latin typeface="Verdana"/>
                <a:cs typeface="Verdana"/>
              </a:rPr>
              <a:t> </a:t>
            </a:r>
            <a:r>
              <a:rPr sz="1200" i="1" spc="-20" dirty="0">
                <a:latin typeface="Verdana"/>
                <a:cs typeface="Verdana"/>
              </a:rPr>
              <a:t>average</a:t>
            </a:r>
            <a:r>
              <a:rPr sz="1200" i="1" spc="-45" dirty="0">
                <a:latin typeface="Verdana"/>
                <a:cs typeface="Verdana"/>
              </a:rPr>
              <a:t> </a:t>
            </a:r>
            <a:r>
              <a:rPr sz="1200" i="1" spc="-20" dirty="0">
                <a:latin typeface="Verdana"/>
                <a:cs typeface="Verdana"/>
              </a:rPr>
              <a:t>rate</a:t>
            </a:r>
            <a:r>
              <a:rPr sz="1200" spc="-20" dirty="0">
                <a:latin typeface="Verdana"/>
                <a:cs typeface="Verdana"/>
              </a:rPr>
              <a:t>.</a:t>
            </a:r>
            <a:endParaRPr sz="1200" dirty="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5" y="8"/>
            <a:ext cx="2596865" cy="328793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39117" y="359926"/>
            <a:ext cx="2764790" cy="56070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83820" rIns="0" bIns="0" rtlCol="0">
            <a:spAutoFit/>
          </a:bodyPr>
          <a:lstStyle/>
          <a:p>
            <a:pPr marL="922655" marR="467359" indent="-459740">
              <a:lnSpc>
                <a:spcPts val="1490"/>
              </a:lnSpc>
              <a:spcBef>
                <a:spcPts val="660"/>
              </a:spcBef>
            </a:pPr>
            <a:r>
              <a:rPr spc="-10" dirty="0">
                <a:solidFill>
                  <a:srgbClr val="FFFFFF"/>
                </a:solidFill>
              </a:rPr>
              <a:t>Properties</a:t>
            </a:r>
            <a:r>
              <a:rPr spc="-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of</a:t>
            </a:r>
            <a:r>
              <a:rPr spc="-1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the </a:t>
            </a:r>
            <a:r>
              <a:rPr spc="-10" dirty="0">
                <a:solidFill>
                  <a:srgbClr val="FFFFFF"/>
                </a:solidFill>
              </a:rPr>
              <a:t>Poisson Distribution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973556" y="1049023"/>
            <a:ext cx="2483485" cy="17005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ctr">
              <a:lnSpc>
                <a:spcPct val="115500"/>
              </a:lnSpc>
              <a:spcBef>
                <a:spcPts val="65"/>
              </a:spcBef>
            </a:pPr>
            <a:r>
              <a:rPr sz="1200" spc="-10" dirty="0"/>
              <a:t>The</a:t>
            </a:r>
            <a:r>
              <a:rPr sz="1200" spc="-60" dirty="0"/>
              <a:t> </a:t>
            </a:r>
            <a:r>
              <a:rPr sz="1200" dirty="0"/>
              <a:t>Poisson</a:t>
            </a:r>
            <a:r>
              <a:rPr sz="1200" spc="-55" dirty="0"/>
              <a:t> </a:t>
            </a:r>
            <a:r>
              <a:rPr sz="1200" dirty="0"/>
              <a:t>distribution</a:t>
            </a:r>
            <a:r>
              <a:rPr sz="1200" spc="-55" dirty="0"/>
              <a:t> </a:t>
            </a:r>
            <a:r>
              <a:rPr sz="1200" spc="-10" dirty="0"/>
              <a:t>has</a:t>
            </a:r>
            <a:r>
              <a:rPr sz="1200" spc="-55" dirty="0"/>
              <a:t> </a:t>
            </a:r>
            <a:r>
              <a:rPr sz="1200" spc="-30" dirty="0"/>
              <a:t>several</a:t>
            </a:r>
            <a:r>
              <a:rPr sz="1200" spc="-55" dirty="0"/>
              <a:t> </a:t>
            </a:r>
            <a:r>
              <a:rPr sz="1200" spc="-25" dirty="0"/>
              <a:t>key </a:t>
            </a:r>
            <a:r>
              <a:rPr sz="1200" spc="-20" dirty="0"/>
              <a:t>properties,</a:t>
            </a:r>
            <a:r>
              <a:rPr sz="1200" spc="-10" dirty="0"/>
              <a:t> </a:t>
            </a:r>
            <a:r>
              <a:rPr sz="1200" dirty="0"/>
              <a:t>including</a:t>
            </a:r>
            <a:r>
              <a:rPr sz="1200" spc="-5" dirty="0"/>
              <a:t> </a:t>
            </a:r>
            <a:r>
              <a:rPr sz="1200" i="1" dirty="0">
                <a:latin typeface="Verdana"/>
                <a:cs typeface="Verdana"/>
              </a:rPr>
              <a:t>mean</a:t>
            </a:r>
            <a:r>
              <a:rPr sz="1200" i="1" spc="-5" dirty="0">
                <a:latin typeface="Verdana"/>
                <a:cs typeface="Verdana"/>
              </a:rPr>
              <a:t> </a:t>
            </a:r>
            <a:r>
              <a:rPr sz="1200" dirty="0"/>
              <a:t>and</a:t>
            </a:r>
            <a:r>
              <a:rPr sz="1200" spc="-5" dirty="0"/>
              <a:t> </a:t>
            </a:r>
            <a:r>
              <a:rPr sz="1200" i="1" spc="-20" dirty="0">
                <a:latin typeface="Verdana"/>
                <a:cs typeface="Verdana"/>
              </a:rPr>
              <a:t>variance</a:t>
            </a:r>
            <a:r>
              <a:rPr sz="1200" i="1" spc="-5" dirty="0">
                <a:latin typeface="Verdana"/>
                <a:cs typeface="Verdana"/>
              </a:rPr>
              <a:t> </a:t>
            </a:r>
            <a:r>
              <a:rPr sz="1200" spc="-20" dirty="0"/>
              <a:t>both </a:t>
            </a:r>
            <a:r>
              <a:rPr sz="1200" dirty="0"/>
              <a:t>equal</a:t>
            </a:r>
            <a:r>
              <a:rPr sz="1200" spc="-50" dirty="0"/>
              <a:t> </a:t>
            </a:r>
            <a:r>
              <a:rPr sz="1200" spc="-10" dirty="0"/>
              <a:t>to</a:t>
            </a:r>
            <a:r>
              <a:rPr sz="1200" spc="-45" dirty="0"/>
              <a:t> </a:t>
            </a:r>
            <a:r>
              <a:rPr sz="1200" spc="-100" dirty="0">
                <a:latin typeface="Lucida Sans Unicode"/>
                <a:cs typeface="Lucida Sans Unicode"/>
              </a:rPr>
              <a:t>λ</a:t>
            </a:r>
            <a:r>
              <a:rPr sz="1200" spc="-100" dirty="0"/>
              <a:t>,</a:t>
            </a:r>
            <a:r>
              <a:rPr sz="1200" spc="-45" dirty="0"/>
              <a:t> </a:t>
            </a:r>
            <a:r>
              <a:rPr sz="1200" dirty="0"/>
              <a:t>and</a:t>
            </a:r>
            <a:r>
              <a:rPr sz="1200" spc="-45" dirty="0"/>
              <a:t> </a:t>
            </a:r>
            <a:r>
              <a:rPr sz="1200" dirty="0"/>
              <a:t>the</a:t>
            </a:r>
            <a:r>
              <a:rPr sz="1200" spc="-45" dirty="0"/>
              <a:t> </a:t>
            </a:r>
            <a:r>
              <a:rPr sz="1200" spc="-10" dirty="0"/>
              <a:t>probability</a:t>
            </a:r>
            <a:r>
              <a:rPr sz="1200" spc="-50" dirty="0"/>
              <a:t> </a:t>
            </a:r>
            <a:r>
              <a:rPr sz="1200" spc="-10" dirty="0"/>
              <a:t>of</a:t>
            </a:r>
            <a:r>
              <a:rPr sz="1200" spc="-45" dirty="0"/>
              <a:t> </a:t>
            </a:r>
            <a:r>
              <a:rPr sz="1200" spc="-10" dirty="0"/>
              <a:t>observing </a:t>
            </a:r>
            <a:r>
              <a:rPr sz="1200" spc="-25" dirty="0"/>
              <a:t>exactly</a:t>
            </a:r>
            <a:r>
              <a:rPr sz="1200" spc="-55" dirty="0"/>
              <a:t> </a:t>
            </a:r>
            <a:r>
              <a:rPr sz="1200" dirty="0"/>
              <a:t>k</a:t>
            </a:r>
            <a:r>
              <a:rPr sz="1200" spc="-50" dirty="0"/>
              <a:t> </a:t>
            </a:r>
            <a:r>
              <a:rPr sz="1200" spc="-20" dirty="0"/>
              <a:t>events</a:t>
            </a:r>
            <a:r>
              <a:rPr sz="1200" spc="-50" dirty="0"/>
              <a:t> </a:t>
            </a:r>
            <a:r>
              <a:rPr sz="1200" dirty="0"/>
              <a:t>in</a:t>
            </a:r>
            <a:r>
              <a:rPr sz="1200" spc="-50" dirty="0"/>
              <a:t> </a:t>
            </a:r>
            <a:r>
              <a:rPr sz="1200" spc="-10" dirty="0"/>
              <a:t>a</a:t>
            </a:r>
            <a:r>
              <a:rPr sz="1200" spc="-50" dirty="0"/>
              <a:t> </a:t>
            </a:r>
            <a:r>
              <a:rPr sz="1200" spc="-10" dirty="0"/>
              <a:t>given</a:t>
            </a:r>
            <a:r>
              <a:rPr sz="1200" spc="-50" dirty="0"/>
              <a:t> </a:t>
            </a:r>
            <a:r>
              <a:rPr sz="1200" spc="-20" dirty="0"/>
              <a:t>interval</a:t>
            </a:r>
            <a:r>
              <a:rPr sz="1200" spc="-50" dirty="0"/>
              <a:t> </a:t>
            </a:r>
            <a:r>
              <a:rPr sz="1200" spc="-25" dirty="0"/>
              <a:t>is</a:t>
            </a:r>
            <a:r>
              <a:rPr sz="1200" spc="-50" dirty="0"/>
              <a:t> </a:t>
            </a:r>
            <a:r>
              <a:rPr sz="1200" spc="-10" dirty="0"/>
              <a:t>given</a:t>
            </a:r>
            <a:r>
              <a:rPr sz="1200" spc="-50" dirty="0"/>
              <a:t> </a:t>
            </a:r>
            <a:r>
              <a:rPr sz="1200" spc="-20" dirty="0"/>
              <a:t>by</a:t>
            </a:r>
            <a:r>
              <a:rPr sz="1200" spc="-50" dirty="0"/>
              <a:t> </a:t>
            </a:r>
            <a:r>
              <a:rPr sz="1200" spc="-25" dirty="0"/>
              <a:t>the </a:t>
            </a:r>
            <a:r>
              <a:rPr sz="1200" dirty="0"/>
              <a:t>formula</a:t>
            </a:r>
            <a:r>
              <a:rPr sz="1200" spc="-55" dirty="0"/>
              <a:t> </a:t>
            </a:r>
            <a:r>
              <a:rPr sz="1200" spc="-70" dirty="0"/>
              <a:t>P(X=k)</a:t>
            </a:r>
            <a:r>
              <a:rPr sz="1200" spc="-55" dirty="0"/>
              <a:t> </a:t>
            </a:r>
            <a:r>
              <a:rPr sz="1200" spc="-210" dirty="0"/>
              <a:t>=</a:t>
            </a:r>
            <a:r>
              <a:rPr sz="1200" spc="-50" dirty="0"/>
              <a:t> </a:t>
            </a:r>
            <a:r>
              <a:rPr sz="1200" spc="-100" dirty="0"/>
              <a:t>(e^-</a:t>
            </a:r>
            <a:r>
              <a:rPr sz="1200" spc="-75" dirty="0">
                <a:latin typeface="Lucida Sans Unicode"/>
                <a:cs typeface="Lucida Sans Unicode"/>
              </a:rPr>
              <a:t>λ</a:t>
            </a:r>
            <a:r>
              <a:rPr sz="1200" spc="-30" dirty="0">
                <a:latin typeface="Lucida Sans Unicode"/>
                <a:cs typeface="Lucida Sans Unicode"/>
              </a:rPr>
              <a:t> </a:t>
            </a:r>
            <a:r>
              <a:rPr sz="1200" spc="-220" dirty="0"/>
              <a:t>*</a:t>
            </a:r>
            <a:r>
              <a:rPr sz="1200" spc="-55" dirty="0"/>
              <a:t> </a:t>
            </a:r>
            <a:r>
              <a:rPr sz="1200" spc="-100" dirty="0">
                <a:latin typeface="Lucida Sans Unicode"/>
                <a:cs typeface="Lucida Sans Unicode"/>
              </a:rPr>
              <a:t>λ</a:t>
            </a:r>
            <a:r>
              <a:rPr sz="1200" spc="-100" dirty="0"/>
              <a:t>^k)</a:t>
            </a:r>
            <a:r>
              <a:rPr sz="1200" spc="-50" dirty="0"/>
              <a:t> </a:t>
            </a:r>
            <a:r>
              <a:rPr sz="1200" spc="-105" dirty="0"/>
              <a:t>/</a:t>
            </a:r>
            <a:r>
              <a:rPr sz="1200" spc="-55" dirty="0"/>
              <a:t> </a:t>
            </a:r>
            <a:r>
              <a:rPr sz="1200" spc="-25" dirty="0"/>
              <a:t>k!.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015" marR="5080" algn="r">
              <a:lnSpc>
                <a:spcPts val="1495"/>
              </a:lnSpc>
              <a:spcBef>
                <a:spcPts val="95"/>
              </a:spcBef>
            </a:pPr>
            <a:r>
              <a:rPr dirty="0"/>
              <a:t>Applications</a:t>
            </a:r>
            <a:r>
              <a:rPr spc="15" dirty="0"/>
              <a:t> </a:t>
            </a:r>
            <a:r>
              <a:rPr dirty="0"/>
              <a:t>in</a:t>
            </a:r>
            <a:r>
              <a:rPr spc="20" dirty="0"/>
              <a:t> </a:t>
            </a:r>
            <a:r>
              <a:rPr spc="-20" dirty="0"/>
              <a:t>Risk</a:t>
            </a:r>
          </a:p>
          <a:p>
            <a:pPr marL="374015" marR="5080" algn="r">
              <a:lnSpc>
                <a:spcPts val="1495"/>
              </a:lnSpc>
            </a:pP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8329" y="1038225"/>
            <a:ext cx="1882775" cy="194264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42545" algn="r">
              <a:lnSpc>
                <a:spcPct val="115399"/>
              </a:lnSpc>
              <a:spcBef>
                <a:spcPts val="120"/>
              </a:spcBef>
            </a:pPr>
            <a:r>
              <a:rPr sz="1100" spc="-50" dirty="0">
                <a:latin typeface="Verdana"/>
                <a:cs typeface="Verdana"/>
              </a:rPr>
              <a:t>In </a:t>
            </a:r>
            <a:r>
              <a:rPr sz="1100" dirty="0">
                <a:latin typeface="Verdana"/>
                <a:cs typeface="Verdana"/>
              </a:rPr>
              <a:t>the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field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of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i="1" spc="-25" dirty="0">
                <a:latin typeface="Verdana"/>
                <a:cs typeface="Verdana"/>
              </a:rPr>
              <a:t>risk</a:t>
            </a:r>
            <a:r>
              <a:rPr sz="1100" i="1" spc="-45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management</a:t>
            </a:r>
            <a:r>
              <a:rPr sz="1100" dirty="0">
                <a:latin typeface="Verdana"/>
                <a:cs typeface="Verdana"/>
              </a:rPr>
              <a:t>,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the </a:t>
            </a:r>
            <a:r>
              <a:rPr sz="1100" dirty="0">
                <a:latin typeface="Verdana"/>
                <a:cs typeface="Verdana"/>
              </a:rPr>
              <a:t>Poisson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distribution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is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used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to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model </a:t>
            </a:r>
            <a:r>
              <a:rPr sz="1100" spc="-30" dirty="0">
                <a:latin typeface="Verdana"/>
                <a:cs typeface="Verdana"/>
              </a:rPr>
              <a:t>rare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events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such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as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natural</a:t>
            </a:r>
            <a:r>
              <a:rPr sz="1100" i="1" spc="-35" dirty="0">
                <a:latin typeface="Verdana"/>
                <a:cs typeface="Verdana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disasters</a:t>
            </a:r>
            <a:r>
              <a:rPr sz="1100" spc="-10" dirty="0">
                <a:latin typeface="Verdana"/>
                <a:cs typeface="Verdana"/>
              </a:rPr>
              <a:t>, </a:t>
            </a:r>
            <a:r>
              <a:rPr sz="1100" i="1" spc="-10" dirty="0">
                <a:latin typeface="Verdana"/>
                <a:cs typeface="Verdana"/>
              </a:rPr>
              <a:t>accidents</a:t>
            </a:r>
            <a:r>
              <a:rPr sz="1100" spc="-10" dirty="0">
                <a:latin typeface="Verdana"/>
                <a:cs typeface="Verdana"/>
              </a:rPr>
              <a:t>,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and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claims</a:t>
            </a:r>
            <a:r>
              <a:rPr sz="1100" i="1" spc="-40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frequency</a:t>
            </a:r>
            <a:r>
              <a:rPr sz="1100" i="1" spc="-4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in </a:t>
            </a:r>
            <a:r>
              <a:rPr sz="1100" spc="-20" dirty="0">
                <a:latin typeface="Verdana"/>
                <a:cs typeface="Verdana"/>
              </a:rPr>
              <a:t>insurance.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It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helps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in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assessing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and </a:t>
            </a:r>
            <a:r>
              <a:rPr sz="1100" dirty="0">
                <a:latin typeface="Verdana"/>
                <a:cs typeface="Verdana"/>
              </a:rPr>
              <a:t>managing</a:t>
            </a:r>
            <a:r>
              <a:rPr sz="1100" spc="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the</a:t>
            </a:r>
            <a:r>
              <a:rPr sz="1100" spc="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associated</a:t>
            </a:r>
            <a:r>
              <a:rPr sz="1100" spc="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risks</a:t>
            </a:r>
            <a:r>
              <a:rPr sz="800" spc="-10" dirty="0">
                <a:latin typeface="Verdana"/>
                <a:cs typeface="Verdana"/>
              </a:rPr>
              <a:t>.</a:t>
            </a:r>
            <a:endParaRPr sz="8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4132" y="0"/>
            <a:ext cx="2922562" cy="32878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1495"/>
              </a:lnSpc>
              <a:spcBef>
                <a:spcPts val="95"/>
              </a:spcBef>
            </a:pPr>
            <a:r>
              <a:rPr spc="-10" dirty="0"/>
              <a:t>Telecommunications</a:t>
            </a:r>
            <a:r>
              <a:rPr spc="110" dirty="0"/>
              <a:t> </a:t>
            </a:r>
            <a:r>
              <a:rPr spc="-25" dirty="0"/>
              <a:t>and</a:t>
            </a:r>
          </a:p>
          <a:p>
            <a:pPr marR="5080" algn="r">
              <a:lnSpc>
                <a:spcPts val="1495"/>
              </a:lnSpc>
            </a:pPr>
            <a:r>
              <a:rPr spc="-20" dirty="0"/>
              <a:t>Network</a:t>
            </a:r>
            <a:r>
              <a:rPr lang="en-IN" spc="-20" dirty="0"/>
              <a:t> Traffic</a:t>
            </a:r>
            <a:r>
              <a:rPr spc="-20" dirty="0"/>
              <a:t> 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444957" y="886452"/>
            <a:ext cx="2019935" cy="1424621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indent="104775" algn="r">
              <a:lnSpc>
                <a:spcPct val="115500"/>
              </a:lnSpc>
              <a:spcBef>
                <a:spcPts val="65"/>
              </a:spcBef>
            </a:pPr>
            <a:r>
              <a:rPr sz="1000" spc="-10" dirty="0">
                <a:latin typeface="Verdana"/>
                <a:cs typeface="Verdana"/>
              </a:rPr>
              <a:t>The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Poisson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distribution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is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commonly </a:t>
            </a:r>
            <a:r>
              <a:rPr sz="1000" dirty="0">
                <a:latin typeface="Verdana"/>
                <a:cs typeface="Verdana"/>
              </a:rPr>
              <a:t>employed</a:t>
            </a:r>
            <a:r>
              <a:rPr sz="1000" spc="-1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10" dirty="0">
                <a:latin typeface="Verdana"/>
                <a:cs typeface="Verdana"/>
              </a:rPr>
              <a:t> </a:t>
            </a:r>
            <a:r>
              <a:rPr sz="1000" i="1" dirty="0">
                <a:latin typeface="Verdana"/>
                <a:cs typeface="Verdana"/>
              </a:rPr>
              <a:t>telecommunications</a:t>
            </a:r>
            <a:r>
              <a:rPr sz="1000" i="1" spc="-1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to </a:t>
            </a:r>
            <a:r>
              <a:rPr sz="1000" dirty="0">
                <a:latin typeface="Verdana"/>
                <a:cs typeface="Verdana"/>
              </a:rPr>
              <a:t>model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i="1" dirty="0">
                <a:latin typeface="Verdana"/>
                <a:cs typeface="Verdana"/>
              </a:rPr>
              <a:t>call</a:t>
            </a:r>
            <a:r>
              <a:rPr sz="1000" i="1" spc="-25" dirty="0">
                <a:latin typeface="Verdana"/>
                <a:cs typeface="Verdana"/>
              </a:rPr>
              <a:t> </a:t>
            </a:r>
            <a:r>
              <a:rPr sz="1000" i="1" spc="-35" dirty="0">
                <a:latin typeface="Verdana"/>
                <a:cs typeface="Verdana"/>
              </a:rPr>
              <a:t>arrivals</a:t>
            </a:r>
            <a:r>
              <a:rPr sz="1000" i="1" spc="-2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and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i="1" dirty="0">
                <a:latin typeface="Verdana"/>
                <a:cs typeface="Verdana"/>
              </a:rPr>
              <a:t>packet</a:t>
            </a:r>
            <a:r>
              <a:rPr sz="1000" i="1" spc="-25" dirty="0">
                <a:latin typeface="Verdana"/>
                <a:cs typeface="Verdana"/>
              </a:rPr>
              <a:t> </a:t>
            </a:r>
            <a:r>
              <a:rPr sz="1000" i="1" spc="-35" dirty="0">
                <a:latin typeface="Verdana"/>
                <a:cs typeface="Verdana"/>
              </a:rPr>
              <a:t>arrivals</a:t>
            </a:r>
            <a:r>
              <a:rPr sz="1000" i="1" spc="-25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in </a:t>
            </a:r>
            <a:r>
              <a:rPr sz="1000" dirty="0">
                <a:latin typeface="Verdana"/>
                <a:cs typeface="Verdana"/>
              </a:rPr>
              <a:t>network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traffic.</a:t>
            </a:r>
            <a:r>
              <a:rPr sz="1000" spc="-55" dirty="0">
                <a:latin typeface="Verdana"/>
                <a:cs typeface="Verdana"/>
              </a:rPr>
              <a:t> It </a:t>
            </a:r>
            <a:r>
              <a:rPr sz="1000" spc="-10" dirty="0">
                <a:latin typeface="Verdana"/>
                <a:cs typeface="Verdana"/>
              </a:rPr>
              <a:t>aids</a:t>
            </a:r>
            <a:r>
              <a:rPr sz="1000" spc="-5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optimizing </a:t>
            </a:r>
            <a:r>
              <a:rPr sz="1000" dirty="0">
                <a:latin typeface="Verdana"/>
                <a:cs typeface="Verdana"/>
              </a:rPr>
              <a:t>network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resources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and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predicting</a:t>
            </a:r>
            <a:endParaRPr sz="1000" dirty="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45"/>
              </a:spcBef>
            </a:pPr>
            <a:r>
              <a:rPr sz="1000" spc="-10" dirty="0">
                <a:latin typeface="Verdana"/>
                <a:cs typeface="Verdana"/>
              </a:rPr>
              <a:t>congestion</a:t>
            </a:r>
            <a:r>
              <a:rPr sz="800" spc="-10" dirty="0">
                <a:latin typeface="Verdana"/>
                <a:cs typeface="Verdana"/>
              </a:rPr>
              <a:t>.</a:t>
            </a:r>
            <a:endParaRPr sz="8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4132" y="0"/>
            <a:ext cx="2922562" cy="32878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24126" y="8"/>
            <a:ext cx="2922905" cy="3288029"/>
            <a:chOff x="2924126" y="8"/>
            <a:chExt cx="2922905" cy="3288029"/>
          </a:xfrm>
        </p:grpSpPr>
        <p:sp>
          <p:nvSpPr>
            <p:cNvPr id="3" name="object 3"/>
            <p:cNvSpPr/>
            <p:nvPr/>
          </p:nvSpPr>
          <p:spPr>
            <a:xfrm>
              <a:off x="2924126" y="8"/>
              <a:ext cx="2922905" cy="3288029"/>
            </a:xfrm>
            <a:custGeom>
              <a:avLst/>
              <a:gdLst/>
              <a:ahLst/>
              <a:cxnLst/>
              <a:rect l="l" t="t" r="r" b="b"/>
              <a:pathLst>
                <a:path w="2922904" h="3288029">
                  <a:moveTo>
                    <a:pt x="2922614" y="0"/>
                  </a:moveTo>
                  <a:lnTo>
                    <a:pt x="0" y="0"/>
                  </a:lnTo>
                  <a:lnTo>
                    <a:pt x="0" y="3287938"/>
                  </a:lnTo>
                  <a:lnTo>
                    <a:pt x="2922614" y="3287938"/>
                  </a:lnTo>
                  <a:lnTo>
                    <a:pt x="29226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2589" y="365330"/>
              <a:ext cx="2076270" cy="25451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2525" y="610989"/>
            <a:ext cx="1821814" cy="427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95"/>
              </a:spcBef>
            </a:pPr>
            <a:r>
              <a:rPr sz="1300" dirty="0"/>
              <a:t>Poisson</a:t>
            </a:r>
            <a:r>
              <a:rPr sz="1300" spc="110" dirty="0"/>
              <a:t> </a:t>
            </a:r>
            <a:r>
              <a:rPr sz="1300" dirty="0"/>
              <a:t>Distribution</a:t>
            </a:r>
            <a:r>
              <a:rPr sz="1300" spc="114" dirty="0"/>
              <a:t> </a:t>
            </a:r>
            <a:r>
              <a:rPr sz="1300" spc="-35" dirty="0"/>
              <a:t>in </a:t>
            </a:r>
            <a:r>
              <a:rPr sz="1300" spc="-10" dirty="0"/>
              <a:t>Biology</a:t>
            </a:r>
            <a:endParaRPr sz="1300" dirty="0"/>
          </a:p>
        </p:txBody>
      </p:sp>
      <p:sp>
        <p:nvSpPr>
          <p:cNvPr id="6" name="object 6"/>
          <p:cNvSpPr txBox="1"/>
          <p:nvPr/>
        </p:nvSpPr>
        <p:spPr>
          <a:xfrm>
            <a:off x="435841" y="1275297"/>
            <a:ext cx="2013585" cy="155920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15500"/>
              </a:lnSpc>
              <a:spcBef>
                <a:spcPts val="65"/>
              </a:spcBef>
            </a:pPr>
            <a:r>
              <a:rPr sz="1100" dirty="0">
                <a:latin typeface="Verdana"/>
                <a:cs typeface="Verdana"/>
              </a:rPr>
              <a:t>Biologists</a:t>
            </a:r>
            <a:r>
              <a:rPr sz="1100" spc="-6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use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the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Poisson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distribution to</a:t>
            </a:r>
            <a:r>
              <a:rPr sz="1100" spc="-25" dirty="0">
                <a:latin typeface="Verdana"/>
                <a:cs typeface="Verdana"/>
              </a:rPr>
              <a:t> analyze </a:t>
            </a:r>
            <a:r>
              <a:rPr sz="1100" i="1" spc="-30" dirty="0">
                <a:latin typeface="Verdana"/>
                <a:cs typeface="Verdana"/>
              </a:rPr>
              <a:t>rare</a:t>
            </a:r>
            <a:r>
              <a:rPr sz="1100" i="1" spc="-25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genetic</a:t>
            </a:r>
            <a:r>
              <a:rPr sz="1100" i="1" spc="-25" dirty="0">
                <a:latin typeface="Verdana"/>
                <a:cs typeface="Verdana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mutations</a:t>
            </a:r>
            <a:r>
              <a:rPr sz="1100" spc="-10" dirty="0">
                <a:latin typeface="Verdana"/>
                <a:cs typeface="Verdana"/>
              </a:rPr>
              <a:t>, </a:t>
            </a:r>
            <a:r>
              <a:rPr sz="1100" i="1" dirty="0">
                <a:latin typeface="Verdana"/>
                <a:cs typeface="Verdana"/>
              </a:rPr>
              <a:t>molecular</a:t>
            </a:r>
            <a:r>
              <a:rPr sz="1100" i="1" spc="-30" dirty="0">
                <a:latin typeface="Verdana"/>
                <a:cs typeface="Verdana"/>
              </a:rPr>
              <a:t> </a:t>
            </a:r>
            <a:r>
              <a:rPr sz="1100" i="1" spc="-35" dirty="0">
                <a:latin typeface="Verdana"/>
                <a:cs typeface="Verdana"/>
              </a:rPr>
              <a:t>events</a:t>
            </a:r>
            <a:r>
              <a:rPr sz="1100" spc="-35" dirty="0">
                <a:latin typeface="Verdana"/>
                <a:cs typeface="Verdana"/>
              </a:rPr>
              <a:t>,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and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cell</a:t>
            </a:r>
            <a:r>
              <a:rPr sz="1100" i="1" spc="-30" dirty="0">
                <a:latin typeface="Verdana"/>
                <a:cs typeface="Verdana"/>
              </a:rPr>
              <a:t> division</a:t>
            </a:r>
            <a:r>
              <a:rPr sz="1100" spc="-30" dirty="0">
                <a:latin typeface="Verdana"/>
                <a:cs typeface="Verdana"/>
              </a:rPr>
              <a:t>.</a:t>
            </a:r>
            <a:r>
              <a:rPr sz="1100" spc="-25" dirty="0">
                <a:latin typeface="Verdana"/>
                <a:cs typeface="Verdana"/>
              </a:rPr>
              <a:t> It </a:t>
            </a:r>
            <a:r>
              <a:rPr sz="1100" spc="-10" dirty="0">
                <a:latin typeface="Verdana"/>
                <a:cs typeface="Verdana"/>
              </a:rPr>
              <a:t>provides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insights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into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the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occurrence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of </a:t>
            </a:r>
            <a:r>
              <a:rPr sz="1100" spc="-30" dirty="0">
                <a:latin typeface="Verdana"/>
                <a:cs typeface="Verdana"/>
              </a:rPr>
              <a:t>rare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biological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events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and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their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impact.</a:t>
            </a:r>
            <a:endParaRPr sz="1100" dirty="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901065" marR="5080" indent="-202565">
              <a:lnSpc>
                <a:spcPts val="1490"/>
              </a:lnSpc>
              <a:spcBef>
                <a:spcPts val="155"/>
              </a:spcBef>
            </a:pPr>
            <a:r>
              <a:rPr dirty="0"/>
              <a:t>Limitations</a:t>
            </a:r>
            <a:r>
              <a:rPr spc="20" dirty="0"/>
              <a:t> </a:t>
            </a:r>
            <a:r>
              <a:rPr spc="-25" dirty="0"/>
              <a:t>and </a:t>
            </a:r>
            <a:r>
              <a:rPr spc="-10" dirty="0"/>
              <a:t>Assumptions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2913" y="1038225"/>
            <a:ext cx="2011680" cy="21409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740" marR="5080" indent="-66675" algn="r">
              <a:lnSpc>
                <a:spcPct val="115399"/>
              </a:lnSpc>
              <a:spcBef>
                <a:spcPts val="95"/>
              </a:spcBef>
            </a:pPr>
            <a:r>
              <a:rPr sz="1100" spc="-55" dirty="0">
                <a:latin typeface="Verdana"/>
                <a:cs typeface="Verdana"/>
              </a:rPr>
              <a:t>It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is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essential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to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consider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the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limitations </a:t>
            </a:r>
            <a:r>
              <a:rPr sz="1100" dirty="0">
                <a:latin typeface="Verdana"/>
                <a:cs typeface="Verdana"/>
              </a:rPr>
              <a:t>and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assumptions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of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the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Poisson distribution,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such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as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the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requirement </a:t>
            </a:r>
            <a:r>
              <a:rPr sz="1100" spc="-25" dirty="0">
                <a:latin typeface="Verdana"/>
                <a:cs typeface="Verdana"/>
              </a:rPr>
              <a:t>for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events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to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occur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independently</a:t>
            </a:r>
            <a:r>
              <a:rPr sz="1100" i="1" spc="-3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and </a:t>
            </a:r>
            <a:r>
              <a:rPr sz="1100" dirty="0">
                <a:latin typeface="Verdana"/>
                <a:cs typeface="Verdana"/>
              </a:rPr>
              <a:t>at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a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constant</a:t>
            </a:r>
            <a:r>
              <a:rPr sz="1100" i="1" spc="-45" dirty="0">
                <a:latin typeface="Verdana"/>
                <a:cs typeface="Verdana"/>
              </a:rPr>
              <a:t> </a:t>
            </a:r>
            <a:r>
              <a:rPr sz="1100" i="1" spc="-40" dirty="0">
                <a:latin typeface="Verdana"/>
                <a:cs typeface="Verdana"/>
              </a:rPr>
              <a:t>rate</a:t>
            </a:r>
            <a:r>
              <a:rPr sz="1100" spc="-40" dirty="0">
                <a:latin typeface="Verdana"/>
                <a:cs typeface="Verdana"/>
              </a:rPr>
              <a:t>.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Additionally,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it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may </a:t>
            </a:r>
            <a:r>
              <a:rPr sz="1100" dirty="0">
                <a:latin typeface="Verdana"/>
                <a:cs typeface="Verdana"/>
              </a:rPr>
              <a:t>not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be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suitable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for </a:t>
            </a:r>
            <a:r>
              <a:rPr sz="1100" dirty="0">
                <a:latin typeface="Verdana"/>
                <a:cs typeface="Verdana"/>
              </a:rPr>
              <a:t>modeling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events</a:t>
            </a:r>
            <a:endParaRPr sz="1100" dirty="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45"/>
              </a:spcBef>
            </a:pPr>
            <a:r>
              <a:rPr sz="1100" dirty="0">
                <a:latin typeface="Verdana"/>
                <a:cs typeface="Verdana"/>
              </a:rPr>
              <a:t>with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seasonal</a:t>
            </a:r>
            <a:r>
              <a:rPr sz="1100" i="1" spc="-45" dirty="0">
                <a:latin typeface="Verdana"/>
                <a:cs typeface="Verdana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variations</a:t>
            </a:r>
            <a:r>
              <a:rPr sz="800" spc="-10" dirty="0">
                <a:latin typeface="Verdana"/>
                <a:cs typeface="Verdana"/>
              </a:rPr>
              <a:t>.</a:t>
            </a:r>
            <a:endParaRPr sz="8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4132" y="0"/>
            <a:ext cx="2922562" cy="32878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24126" y="8"/>
            <a:ext cx="2922905" cy="3288029"/>
            <a:chOff x="2924126" y="8"/>
            <a:chExt cx="2922905" cy="3288029"/>
          </a:xfrm>
        </p:grpSpPr>
        <p:sp>
          <p:nvSpPr>
            <p:cNvPr id="3" name="object 3"/>
            <p:cNvSpPr/>
            <p:nvPr/>
          </p:nvSpPr>
          <p:spPr>
            <a:xfrm>
              <a:off x="2924126" y="8"/>
              <a:ext cx="2922905" cy="3288029"/>
            </a:xfrm>
            <a:custGeom>
              <a:avLst/>
              <a:gdLst/>
              <a:ahLst/>
              <a:cxnLst/>
              <a:rect l="l" t="t" r="r" b="b"/>
              <a:pathLst>
                <a:path w="2922904" h="3288029">
                  <a:moveTo>
                    <a:pt x="2922614" y="0"/>
                  </a:moveTo>
                  <a:lnTo>
                    <a:pt x="0" y="0"/>
                  </a:lnTo>
                  <a:lnTo>
                    <a:pt x="0" y="3287938"/>
                  </a:lnTo>
                  <a:lnTo>
                    <a:pt x="2922614" y="3287938"/>
                  </a:lnTo>
                  <a:lnTo>
                    <a:pt x="29226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2589" y="365330"/>
              <a:ext cx="2076270" cy="25451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2531" y="614030"/>
            <a:ext cx="2037714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/>
              <a:t>Real-world</a:t>
            </a:r>
            <a:r>
              <a:rPr sz="1600" spc="100" dirty="0"/>
              <a:t> </a:t>
            </a:r>
            <a:r>
              <a:rPr sz="1600" spc="-10" dirty="0"/>
              <a:t>Examples</a:t>
            </a:r>
            <a:endParaRPr sz="1600"/>
          </a:p>
        </p:txBody>
      </p:sp>
      <p:sp>
        <p:nvSpPr>
          <p:cNvPr id="6" name="object 6"/>
          <p:cNvSpPr txBox="1"/>
          <p:nvPr/>
        </p:nvSpPr>
        <p:spPr>
          <a:xfrm>
            <a:off x="450988" y="1000169"/>
            <a:ext cx="2036445" cy="17447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300"/>
              </a:lnSpc>
              <a:spcBef>
                <a:spcPts val="95"/>
              </a:spcBef>
            </a:pPr>
            <a:r>
              <a:rPr sz="1100" spc="-25" dirty="0">
                <a:latin typeface="Verdana"/>
                <a:cs typeface="Verdana"/>
              </a:rPr>
              <a:t>Real-</a:t>
            </a:r>
            <a:r>
              <a:rPr sz="1100" dirty="0">
                <a:latin typeface="Verdana"/>
                <a:cs typeface="Verdana"/>
              </a:rPr>
              <a:t>world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examples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of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the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Poisson </a:t>
            </a:r>
            <a:r>
              <a:rPr sz="1100" dirty="0">
                <a:latin typeface="Verdana"/>
                <a:cs typeface="Verdana"/>
              </a:rPr>
              <a:t>distribution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include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analysis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of </a:t>
            </a:r>
            <a:r>
              <a:rPr sz="1100" i="1" dirty="0">
                <a:latin typeface="Verdana"/>
                <a:cs typeface="Verdana"/>
              </a:rPr>
              <a:t>earthquake</a:t>
            </a:r>
            <a:r>
              <a:rPr sz="1100" i="1" spc="-35" dirty="0">
                <a:latin typeface="Verdana"/>
                <a:cs typeface="Verdana"/>
              </a:rPr>
              <a:t> </a:t>
            </a:r>
            <a:r>
              <a:rPr sz="1100" i="1" spc="-20" dirty="0">
                <a:latin typeface="Verdana"/>
                <a:cs typeface="Verdana"/>
              </a:rPr>
              <a:t>occurrences</a:t>
            </a:r>
            <a:r>
              <a:rPr sz="1100" spc="-20" dirty="0">
                <a:latin typeface="Verdana"/>
                <a:cs typeface="Verdana"/>
              </a:rPr>
              <a:t>,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website</a:t>
            </a:r>
            <a:r>
              <a:rPr sz="1100" i="1" spc="-35" dirty="0">
                <a:latin typeface="Verdana"/>
                <a:cs typeface="Verdana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traffic</a:t>
            </a:r>
            <a:r>
              <a:rPr sz="1100" spc="-10" dirty="0">
                <a:latin typeface="Verdana"/>
                <a:cs typeface="Verdana"/>
              </a:rPr>
              <a:t>, </a:t>
            </a:r>
            <a:r>
              <a:rPr sz="1100" dirty="0">
                <a:latin typeface="Verdana"/>
                <a:cs typeface="Verdana"/>
              </a:rPr>
              <a:t>and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customer</a:t>
            </a:r>
            <a:r>
              <a:rPr sz="1100" i="1" spc="-30" dirty="0">
                <a:latin typeface="Verdana"/>
                <a:cs typeface="Verdana"/>
              </a:rPr>
              <a:t> </a:t>
            </a:r>
            <a:r>
              <a:rPr sz="1100" i="1" spc="-35" dirty="0">
                <a:latin typeface="Verdana"/>
                <a:cs typeface="Verdana"/>
              </a:rPr>
              <a:t>arrivals </a:t>
            </a:r>
            <a:r>
              <a:rPr sz="1100" dirty="0">
                <a:latin typeface="Verdana"/>
                <a:cs typeface="Verdana"/>
              </a:rPr>
              <a:t>in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service</a:t>
            </a:r>
            <a:r>
              <a:rPr sz="1100" spc="500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systems.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These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applications </a:t>
            </a:r>
            <a:r>
              <a:rPr sz="1100" dirty="0">
                <a:latin typeface="Verdana"/>
                <a:cs typeface="Verdana"/>
              </a:rPr>
              <a:t>demonstrate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relevance</a:t>
            </a:r>
            <a:r>
              <a:rPr sz="1100" spc="-25" dirty="0">
                <a:latin typeface="Verdana"/>
                <a:cs typeface="Verdana"/>
              </a:rPr>
              <a:t> and </a:t>
            </a:r>
            <a:r>
              <a:rPr sz="1100" spc="-30" dirty="0">
                <a:latin typeface="Verdana"/>
                <a:cs typeface="Verdana"/>
              </a:rPr>
              <a:t>versatility </a:t>
            </a:r>
            <a:r>
              <a:rPr sz="1100" spc="-20" dirty="0">
                <a:latin typeface="Verdana"/>
                <a:cs typeface="Verdana"/>
              </a:rPr>
              <a:t>of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distribution.</a:t>
            </a:r>
            <a:endParaRPr sz="1100" dirty="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390" marR="5080" algn="r">
              <a:lnSpc>
                <a:spcPts val="1495"/>
              </a:lnSpc>
              <a:spcBef>
                <a:spcPts val="95"/>
              </a:spcBef>
            </a:pPr>
            <a:r>
              <a:rPr dirty="0"/>
              <a:t>Challenges</a:t>
            </a:r>
            <a:r>
              <a:rPr spc="20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spc="-10" dirty="0"/>
              <a:t>Future</a:t>
            </a:r>
          </a:p>
          <a:p>
            <a:pPr marL="199390" marR="5080" algn="r">
              <a:lnSpc>
                <a:spcPts val="1495"/>
              </a:lnSpc>
            </a:pPr>
            <a:r>
              <a:rPr spc="-10" dirty="0"/>
              <a:t>Research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6550" y="1114425"/>
            <a:ext cx="2012950" cy="1858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8755" algn="r">
              <a:lnSpc>
                <a:spcPct val="115399"/>
              </a:lnSpc>
              <a:spcBef>
                <a:spcPts val="95"/>
              </a:spcBef>
            </a:pPr>
            <a:r>
              <a:rPr sz="1050" dirty="0">
                <a:latin typeface="Verdana"/>
                <a:cs typeface="Verdana"/>
              </a:rPr>
              <a:t>Challenges</a:t>
            </a:r>
            <a:r>
              <a:rPr sz="1050" spc="-5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in</a:t>
            </a:r>
            <a:r>
              <a:rPr sz="1050" spc="-5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the</a:t>
            </a:r>
            <a:r>
              <a:rPr sz="1050" spc="-5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application</a:t>
            </a:r>
            <a:r>
              <a:rPr sz="1050" spc="-50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of</a:t>
            </a:r>
            <a:r>
              <a:rPr sz="1050" spc="-5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the </a:t>
            </a:r>
            <a:r>
              <a:rPr sz="1050" dirty="0">
                <a:latin typeface="Verdana"/>
                <a:cs typeface="Verdana"/>
              </a:rPr>
              <a:t>Poisson</a:t>
            </a:r>
            <a:r>
              <a:rPr sz="1050" spc="-4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distribution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include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addressing </a:t>
            </a:r>
            <a:r>
              <a:rPr sz="1050" i="1" dirty="0">
                <a:latin typeface="Verdana"/>
                <a:cs typeface="Verdana"/>
              </a:rPr>
              <a:t>complex</a:t>
            </a:r>
            <a:r>
              <a:rPr sz="1050" i="1" spc="-20" dirty="0">
                <a:latin typeface="Verdana"/>
                <a:cs typeface="Verdana"/>
              </a:rPr>
              <a:t> </a:t>
            </a:r>
            <a:r>
              <a:rPr sz="1050" i="1" spc="-10" dirty="0">
                <a:latin typeface="Verdana"/>
                <a:cs typeface="Verdana"/>
              </a:rPr>
              <a:t>event</a:t>
            </a:r>
            <a:r>
              <a:rPr sz="1050" i="1" spc="-2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dependencies</a:t>
            </a:r>
            <a:r>
              <a:rPr sz="1050" i="1" spc="-20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and </a:t>
            </a:r>
            <a:r>
              <a:rPr sz="1050" i="1" dirty="0">
                <a:latin typeface="Verdana"/>
                <a:cs typeface="Verdana"/>
              </a:rPr>
              <a:t>incorporating</a:t>
            </a:r>
            <a:r>
              <a:rPr sz="1050" i="1" spc="-50" dirty="0">
                <a:latin typeface="Verdana"/>
                <a:cs typeface="Verdana"/>
              </a:rPr>
              <a:t> </a:t>
            </a:r>
            <a:r>
              <a:rPr sz="1050" i="1" spc="-20" dirty="0">
                <a:latin typeface="Verdana"/>
                <a:cs typeface="Verdana"/>
              </a:rPr>
              <a:t>external</a:t>
            </a:r>
            <a:r>
              <a:rPr sz="1050" i="1" spc="-45" dirty="0">
                <a:latin typeface="Verdana"/>
                <a:cs typeface="Verdana"/>
              </a:rPr>
              <a:t> </a:t>
            </a:r>
            <a:r>
              <a:rPr sz="1050" i="1" spc="-10" dirty="0">
                <a:latin typeface="Verdana"/>
                <a:cs typeface="Verdana"/>
              </a:rPr>
              <a:t>factors</a:t>
            </a:r>
            <a:r>
              <a:rPr sz="1050" i="1" spc="-50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into</a:t>
            </a:r>
            <a:r>
              <a:rPr sz="1050" spc="-4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the </a:t>
            </a:r>
            <a:r>
              <a:rPr sz="1050" spc="-10" dirty="0">
                <a:latin typeface="Verdana"/>
                <a:cs typeface="Verdana"/>
              </a:rPr>
              <a:t>model.</a:t>
            </a:r>
            <a:r>
              <a:rPr sz="1050" spc="-5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Future</a:t>
            </a:r>
            <a:r>
              <a:rPr sz="1050" spc="-45" dirty="0">
                <a:latin typeface="Verdana"/>
                <a:cs typeface="Verdana"/>
              </a:rPr>
              <a:t> </a:t>
            </a:r>
            <a:r>
              <a:rPr sz="1050" spc="-20" dirty="0">
                <a:latin typeface="Verdana"/>
                <a:cs typeface="Verdana"/>
              </a:rPr>
              <a:t>research</a:t>
            </a:r>
            <a:r>
              <a:rPr sz="1050" spc="-4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aims</a:t>
            </a:r>
            <a:r>
              <a:rPr sz="1050" spc="-4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to</a:t>
            </a:r>
            <a:r>
              <a:rPr sz="1050" spc="50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enhance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the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distribution's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adaptability</a:t>
            </a:r>
            <a:endParaRPr sz="1050" dirty="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45"/>
              </a:spcBef>
            </a:pPr>
            <a:r>
              <a:rPr sz="1050" spc="-10" dirty="0">
                <a:latin typeface="Verdana"/>
                <a:cs typeface="Verdana"/>
              </a:rPr>
              <a:t>to</a:t>
            </a:r>
            <a:r>
              <a:rPr sz="1050" spc="-50" dirty="0">
                <a:latin typeface="Verdana"/>
                <a:cs typeface="Verdana"/>
              </a:rPr>
              <a:t> </a:t>
            </a:r>
            <a:r>
              <a:rPr sz="1050" spc="-20" dirty="0">
                <a:latin typeface="Verdana"/>
                <a:cs typeface="Verdana"/>
              </a:rPr>
              <a:t>diverse</a:t>
            </a:r>
            <a:r>
              <a:rPr sz="1050" spc="-4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scenarios.</a:t>
            </a:r>
            <a:endParaRPr sz="105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4132" y="0"/>
            <a:ext cx="2922562" cy="32878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11" y="0"/>
            <a:ext cx="5845810" cy="3288029"/>
          </a:xfrm>
          <a:custGeom>
            <a:avLst/>
            <a:gdLst/>
            <a:ahLst/>
            <a:cxnLst/>
            <a:rect l="l" t="t" r="r" b="b"/>
            <a:pathLst>
              <a:path w="5845810" h="3288029">
                <a:moveTo>
                  <a:pt x="5845213" y="0"/>
                </a:moveTo>
                <a:lnTo>
                  <a:pt x="5453367" y="0"/>
                </a:lnTo>
                <a:lnTo>
                  <a:pt x="5453367" y="391160"/>
                </a:lnTo>
                <a:lnTo>
                  <a:pt x="5453367" y="2895600"/>
                </a:lnTo>
                <a:lnTo>
                  <a:pt x="3865029" y="2895600"/>
                </a:lnTo>
                <a:lnTo>
                  <a:pt x="3865029" y="2894457"/>
                </a:lnTo>
                <a:lnTo>
                  <a:pt x="1980222" y="2894457"/>
                </a:lnTo>
                <a:lnTo>
                  <a:pt x="1980222" y="2895600"/>
                </a:lnTo>
                <a:lnTo>
                  <a:pt x="391858" y="2895600"/>
                </a:lnTo>
                <a:lnTo>
                  <a:pt x="391858" y="391160"/>
                </a:lnTo>
                <a:lnTo>
                  <a:pt x="1980222" y="391160"/>
                </a:lnTo>
                <a:lnTo>
                  <a:pt x="1980222" y="392595"/>
                </a:lnTo>
                <a:lnTo>
                  <a:pt x="3865029" y="392595"/>
                </a:lnTo>
                <a:lnTo>
                  <a:pt x="3865029" y="391160"/>
                </a:lnTo>
                <a:lnTo>
                  <a:pt x="5453367" y="391160"/>
                </a:lnTo>
                <a:lnTo>
                  <a:pt x="5453367" y="0"/>
                </a:lnTo>
                <a:lnTo>
                  <a:pt x="3776573" y="0"/>
                </a:lnTo>
                <a:lnTo>
                  <a:pt x="2068664" y="25"/>
                </a:lnTo>
                <a:lnTo>
                  <a:pt x="0" y="0"/>
                </a:lnTo>
                <a:lnTo>
                  <a:pt x="0" y="391160"/>
                </a:lnTo>
                <a:lnTo>
                  <a:pt x="0" y="2895600"/>
                </a:lnTo>
                <a:lnTo>
                  <a:pt x="0" y="3288030"/>
                </a:lnTo>
                <a:lnTo>
                  <a:pt x="2068664" y="3288030"/>
                </a:lnTo>
                <a:lnTo>
                  <a:pt x="2068664" y="3287014"/>
                </a:lnTo>
                <a:lnTo>
                  <a:pt x="3776573" y="3287014"/>
                </a:lnTo>
                <a:lnTo>
                  <a:pt x="3776573" y="3288030"/>
                </a:lnTo>
                <a:lnTo>
                  <a:pt x="5845213" y="3288030"/>
                </a:lnTo>
                <a:lnTo>
                  <a:pt x="5845213" y="2895600"/>
                </a:lnTo>
                <a:lnTo>
                  <a:pt x="5845213" y="391160"/>
                </a:lnTo>
                <a:lnTo>
                  <a:pt x="58452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9644" y="766646"/>
            <a:ext cx="2165985" cy="5149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35" dirty="0"/>
              <a:t>Conclusion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340690" y="1486916"/>
            <a:ext cx="3164205" cy="633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Verdana"/>
                <a:cs typeface="Verdana"/>
              </a:rPr>
              <a:t>The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Poisson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distribution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30" dirty="0">
                <a:latin typeface="Verdana"/>
                <a:cs typeface="Verdana"/>
              </a:rPr>
              <a:t>serves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as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a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valuable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tool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for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analyzing </a:t>
            </a:r>
            <a:r>
              <a:rPr sz="800" dirty="0">
                <a:latin typeface="Verdana"/>
                <a:cs typeface="Verdana"/>
              </a:rPr>
              <a:t>and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predicting</a:t>
            </a:r>
            <a:r>
              <a:rPr sz="800" spc="-25" dirty="0">
                <a:latin typeface="Verdana"/>
                <a:cs typeface="Verdana"/>
              </a:rPr>
              <a:t> </a:t>
            </a:r>
            <a:r>
              <a:rPr sz="800" spc="-30" dirty="0">
                <a:latin typeface="Verdana"/>
                <a:cs typeface="Verdana"/>
              </a:rPr>
              <a:t>rare</a:t>
            </a:r>
            <a:r>
              <a:rPr sz="800" spc="-2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events</a:t>
            </a:r>
            <a:r>
              <a:rPr sz="800" spc="-2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across</a:t>
            </a:r>
            <a:r>
              <a:rPr sz="800" spc="-25" dirty="0">
                <a:latin typeface="Verdana"/>
                <a:cs typeface="Verdana"/>
              </a:rPr>
              <a:t> various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domains.</a:t>
            </a:r>
            <a:r>
              <a:rPr sz="800" spc="-25" dirty="0">
                <a:latin typeface="Verdana"/>
                <a:cs typeface="Verdana"/>
              </a:rPr>
              <a:t> Its </a:t>
            </a:r>
            <a:r>
              <a:rPr sz="800" dirty="0">
                <a:latin typeface="Verdana"/>
                <a:cs typeface="Verdana"/>
              </a:rPr>
              <a:t>mathematical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properties</a:t>
            </a:r>
            <a:r>
              <a:rPr sz="800" spc="-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and</a:t>
            </a:r>
            <a:r>
              <a:rPr sz="800" spc="-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practical</a:t>
            </a:r>
            <a:r>
              <a:rPr sz="800" spc="-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applications</a:t>
            </a:r>
            <a:r>
              <a:rPr sz="800" spc="-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make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it</a:t>
            </a:r>
            <a:r>
              <a:rPr sz="800" spc="-25" dirty="0">
                <a:latin typeface="Verdana"/>
                <a:cs typeface="Verdana"/>
              </a:rPr>
              <a:t> an </a:t>
            </a:r>
            <a:r>
              <a:rPr sz="800" dirty="0">
                <a:latin typeface="Verdana"/>
                <a:cs typeface="Verdana"/>
              </a:rPr>
              <a:t>indispensable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resource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for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statistical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analysis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and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risk </a:t>
            </a:r>
            <a:r>
              <a:rPr sz="800" spc="-10" dirty="0">
                <a:latin typeface="Verdana"/>
                <a:cs typeface="Verdana"/>
              </a:rPr>
              <a:t>assessment.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424</Words>
  <Application>Microsoft Office PowerPoint</Application>
  <PresentationFormat>Custom</PresentationFormat>
  <Paragraphs>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Cambria</vt:lpstr>
      <vt:lpstr>Lucida Sans Unicode</vt:lpstr>
      <vt:lpstr>Verdana</vt:lpstr>
      <vt:lpstr>Office Theme</vt:lpstr>
      <vt:lpstr>PowerPoint Presentation</vt:lpstr>
      <vt:lpstr>Introduction</vt:lpstr>
      <vt:lpstr>Understanding the Poisson Distribution</vt:lpstr>
      <vt:lpstr>Properties of the Poisson Distribution</vt:lpstr>
      <vt:lpstr>Applications in Risk Management</vt:lpstr>
      <vt:lpstr>Telecommunications and Network Traffic </vt:lpstr>
      <vt:lpstr>Poisson Distribution in Biology</vt:lpstr>
      <vt:lpstr>Limitations and Assumptions</vt:lpstr>
      <vt:lpstr>Real-world Examples</vt:lpstr>
      <vt:lpstr>Challenges and Future Research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pradeep reddy</dc:creator>
  <cp:lastModifiedBy>pradeep reddy</cp:lastModifiedBy>
  <cp:revision>2</cp:revision>
  <dcterms:created xsi:type="dcterms:W3CDTF">2023-11-25T17:36:53Z</dcterms:created>
  <dcterms:modified xsi:type="dcterms:W3CDTF">2023-11-27T12:24:37Z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2023-11-25T00:00:00Z</vt:filetime>
  </property>
  <property fmtid="{D5CDD505-2E9C-101B-9397-08002B2CF9AE}" pid="3" name="LastSaved">
    <vt:filetime>2023-11-25T00:00:00Z</vt:filetime>
  </property>
  <property fmtid="{D5CDD505-2E9C-101B-9397-08002B2CF9AE}" pid="4" name="Producer">
    <vt:lpwstr>GPL Ghostscript 10.02.0</vt:lpwstr>
  </property>
</Properties>
</file>